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3DA"/>
    <a:srgbClr val="38C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6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ln w="31750" cap="flat">
              <a:solidFill>
                <a:srgbClr val="F2F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F3F7"/>
              </a:solidFill>
              <a:ln w="9525" cap="flat">
                <a:solidFill>
                  <a:srgbClr val="F2F3F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72</c:v>
                </c:pt>
                <c:pt idx="1">
                  <c:v>74</c:v>
                </c:pt>
                <c:pt idx="2">
                  <c:v>79</c:v>
                </c:pt>
                <c:pt idx="3">
                  <c:v>84</c:v>
                </c:pt>
                <c:pt idx="4">
                  <c:v>90</c:v>
                </c:pt>
                <c:pt idx="5">
                  <c:v>97</c:v>
                </c:pt>
                <c:pt idx="6">
                  <c:v>103</c:v>
                </c:pt>
                <c:pt idx="7">
                  <c:v>101</c:v>
                </c:pt>
                <c:pt idx="8">
                  <c:v>96</c:v>
                </c:pt>
                <c:pt idx="9">
                  <c:v>92</c:v>
                </c:pt>
                <c:pt idx="10">
                  <c:v>95</c:v>
                </c:pt>
                <c:pt idx="11">
                  <c:v>108</c:v>
                </c:pt>
                <c:pt idx="12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EE-46FD-B99A-1F355F8D96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 cap="flat">
              <a:solidFill>
                <a:srgbClr val="3CD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D4C0"/>
              </a:solidFill>
              <a:ln w="9525" cap="flat">
                <a:solidFill>
                  <a:srgbClr val="3CD4C0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11">
                  <c:v>108</c:v>
                </c:pt>
                <c:pt idx="12">
                  <c:v>112</c:v>
                </c:pt>
                <c:pt idx="13">
                  <c:v>118</c:v>
                </c:pt>
                <c:pt idx="14">
                  <c:v>125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EE-46FD-B99A-1F355F8D9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6"/>
          <c:min val="68"/>
        </c:scaling>
        <c:delete val="0"/>
        <c:axPos val="l"/>
        <c:majorGridlines>
          <c:spPr>
            <a:ln w="12700" cap="flat">
              <a:solidFill>
                <a:srgbClr val="2A2E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1C36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91C36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6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ln w="31750" cap="flat">
              <a:solidFill>
                <a:srgbClr val="F2F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F3F7"/>
              </a:solidFill>
              <a:ln w="9525" cap="flat">
                <a:solidFill>
                  <a:srgbClr val="F2F3F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72</c:v>
                </c:pt>
                <c:pt idx="1">
                  <c:v>74</c:v>
                </c:pt>
                <c:pt idx="2">
                  <c:v>79</c:v>
                </c:pt>
                <c:pt idx="3">
                  <c:v>84</c:v>
                </c:pt>
                <c:pt idx="4">
                  <c:v>90</c:v>
                </c:pt>
                <c:pt idx="5">
                  <c:v>97</c:v>
                </c:pt>
                <c:pt idx="6">
                  <c:v>103</c:v>
                </c:pt>
                <c:pt idx="7">
                  <c:v>101</c:v>
                </c:pt>
                <c:pt idx="8">
                  <c:v>96</c:v>
                </c:pt>
                <c:pt idx="9">
                  <c:v>92</c:v>
                </c:pt>
                <c:pt idx="10">
                  <c:v>95</c:v>
                </c:pt>
                <c:pt idx="11">
                  <c:v>108</c:v>
                </c:pt>
                <c:pt idx="12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A3-4B43-BCB2-F2ACF8B6BA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 cap="flat">
              <a:solidFill>
                <a:srgbClr val="3CD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D4C0"/>
              </a:solidFill>
              <a:ln w="9525" cap="flat">
                <a:solidFill>
                  <a:srgbClr val="3CD4C0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11">
                  <c:v>108</c:v>
                </c:pt>
                <c:pt idx="12">
                  <c:v>112</c:v>
                </c:pt>
                <c:pt idx="13">
                  <c:v>118</c:v>
                </c:pt>
                <c:pt idx="14">
                  <c:v>125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A3-4B43-BCB2-F2ACF8B6B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6"/>
          <c:min val="68"/>
        </c:scaling>
        <c:delete val="0"/>
        <c:axPos val="l"/>
        <c:majorGridlines>
          <c:spPr>
            <a:ln w="12700" cap="flat">
              <a:solidFill>
                <a:srgbClr val="2A2E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1C36">
            <a:alpha val="0"/>
          </a:srgb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538719930650871"/>
          <c:y val="0.75178242142809071"/>
          <c:w val="0.38412876142775731"/>
          <c:h val="7.7277407631738335E-2"/>
        </c:manualLayout>
      </c:layout>
      <c:overlay val="0"/>
      <c:txPr>
        <a:bodyPr/>
        <a:lstStyle/>
        <a:p>
          <a:pPr>
            <a:defRPr>
              <a:solidFill>
                <a:srgbClr val="F2F3F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91C36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6"/>
          <c:w val="0.82"/>
          <c:h val="0.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Histórico</c:v>
                </c:pt>
              </c:strCache>
            </c:strRef>
          </c:tx>
          <c:spPr>
            <a:ln w="31750" cap="flat">
              <a:solidFill>
                <a:srgbClr val="F2F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F3F7"/>
              </a:solidFill>
              <a:ln w="9525" cap="flat">
                <a:solidFill>
                  <a:srgbClr val="F2F3F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72</c:v>
                </c:pt>
                <c:pt idx="1">
                  <c:v>74</c:v>
                </c:pt>
                <c:pt idx="2">
                  <c:v>79</c:v>
                </c:pt>
                <c:pt idx="3">
                  <c:v>84</c:v>
                </c:pt>
                <c:pt idx="4">
                  <c:v>90</c:v>
                </c:pt>
                <c:pt idx="5">
                  <c:v>97</c:v>
                </c:pt>
                <c:pt idx="6">
                  <c:v>103</c:v>
                </c:pt>
                <c:pt idx="7">
                  <c:v>101</c:v>
                </c:pt>
                <c:pt idx="8">
                  <c:v>96</c:v>
                </c:pt>
                <c:pt idx="9">
                  <c:v>92</c:v>
                </c:pt>
                <c:pt idx="10">
                  <c:v>95</c:v>
                </c:pt>
                <c:pt idx="11">
                  <c:v>108</c:v>
                </c:pt>
                <c:pt idx="12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5E-41B5-8327-E574B72DA1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 cap="flat">
              <a:solidFill>
                <a:srgbClr val="3CD4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D4C0"/>
              </a:solidFill>
              <a:ln w="9525" cap="flat">
                <a:solidFill>
                  <a:srgbClr val="3CD4C0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  <c:pt idx="12">
                  <c:v>Ene</c:v>
                </c:pt>
                <c:pt idx="13">
                  <c:v>Feb</c:v>
                </c:pt>
                <c:pt idx="14">
                  <c:v>Mar</c:v>
                </c:pt>
                <c:pt idx="15">
                  <c:v>Abr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11">
                  <c:v>108</c:v>
                </c:pt>
                <c:pt idx="12">
                  <c:v>112</c:v>
                </c:pt>
                <c:pt idx="13">
                  <c:v>118</c:v>
                </c:pt>
                <c:pt idx="14">
                  <c:v>125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5E-41B5-8327-E574B72DA1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6"/>
          <c:min val="68"/>
        </c:scaling>
        <c:delete val="0"/>
        <c:axPos val="l"/>
        <c:majorGridlines>
          <c:spPr>
            <a:ln w="12700" cap="flat">
              <a:solidFill>
                <a:srgbClr val="2A2E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E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90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1C36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2F3F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91C36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24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
- Referencia visual de paleta y estilo: imagen proporcionada por el usuario en esta conversación.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Hyndman, R.J. &amp; Athanasopoulos, G. Forecasting: Principles and Practice (3rd ed.), OTexts, https://otexts.com/fpp3/
- pandas documentation, Time series / date functionality, https://pandas.pydata.org/docs/user_guide/timeseries.html
- statsmodels documentation, Time Series Analysis, https://www.statsmodels.org/stable/tsa.html
- scikit-learn documentation, TimeSeriesSplit, https://scikit-learn.org/stable/modules/generated/sklearn.model_selection.TimeSeriesSplit.html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4206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67512" y="448056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Shape 2"/>
          <p:cNvSpPr/>
          <p:nvPr/>
        </p:nvSpPr>
        <p:spPr>
          <a:xfrm>
            <a:off x="10104120" y="329184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10186416" y="38404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Salvador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0518" y="786384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 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 en Python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13232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convertir una serie de tiempo en una decisión útil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" y="3264408"/>
            <a:ext cx="73152" cy="73152"/>
          </a:xfrm>
          <a:prstGeom prst="ellipse">
            <a:avLst/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8"/>
          <p:cNvSpPr/>
          <p:nvPr/>
        </p:nvSpPr>
        <p:spPr>
          <a:xfrm>
            <a:off x="1993392" y="3218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Estacionalidad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874520" y="3264408"/>
            <a:ext cx="73152" cy="73152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3" name="Text 10"/>
          <p:cNvSpPr/>
          <p:nvPr/>
        </p:nvSpPr>
        <p:spPr>
          <a:xfrm>
            <a:off x="3675888" y="32186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Backtesting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57016" y="3264408"/>
            <a:ext cx="73152" cy="73152"/>
          </a:xfrm>
          <a:prstGeom prst="ellipse">
            <a:avLst/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Shape 12"/>
          <p:cNvSpPr/>
          <p:nvPr/>
        </p:nvSpPr>
        <p:spPr>
          <a:xfrm>
            <a:off x="6537960" y="1078992"/>
            <a:ext cx="4892040" cy="4370832"/>
          </a:xfrm>
          <a:prstGeom prst="roundRect">
            <a:avLst>
              <a:gd name="adj" fmla="val 3138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6" name="Shape 13"/>
          <p:cNvSpPr/>
          <p:nvPr/>
        </p:nvSpPr>
        <p:spPr>
          <a:xfrm>
            <a:off x="6537960" y="1078992"/>
            <a:ext cx="54864" cy="4370832"/>
          </a:xfrm>
          <a:prstGeom prst="roundRect">
            <a:avLst>
              <a:gd name="adj" fmla="val 250000"/>
            </a:avLst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7" name="Text 14"/>
          <p:cNvSpPr/>
          <p:nvPr/>
        </p:nvSpPr>
        <p:spPr>
          <a:xfrm>
            <a:off x="6839712" y="1298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histórico a forecast</a:t>
            </a:r>
            <a:endParaRPr lang="en-US" sz="12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748272" y="1572768"/>
          <a:ext cx="4407408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Shape 15"/>
          <p:cNvSpPr/>
          <p:nvPr/>
        </p:nvSpPr>
        <p:spPr>
          <a:xfrm>
            <a:off x="9877532" y="1709928"/>
            <a:ext cx="0" cy="2962656"/>
          </a:xfrm>
          <a:prstGeom prst="line">
            <a:avLst/>
          </a:prstGeom>
          <a:noFill/>
          <a:ln w="15240">
            <a:solidFill>
              <a:srgbClr val="8B83FF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s-SV"/>
          </a:p>
        </p:txBody>
      </p:sp>
      <p:sp>
        <p:nvSpPr>
          <p:cNvPr id="20" name="Shape 16"/>
          <p:cNvSpPr/>
          <p:nvPr/>
        </p:nvSpPr>
        <p:spPr>
          <a:xfrm>
            <a:off x="9676364" y="1645920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1" name="Text 17"/>
          <p:cNvSpPr/>
          <p:nvPr/>
        </p:nvSpPr>
        <p:spPr>
          <a:xfrm>
            <a:off x="9758660" y="17007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839712" y="501091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3CD4C0">
              <a:alpha val="18000"/>
            </a:srgbClr>
          </a:solidFill>
          <a:ln w="12700">
            <a:solidFill>
              <a:srgbClr val="3CD4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3" name="Text 19"/>
          <p:cNvSpPr/>
          <p:nvPr/>
        </p:nvSpPr>
        <p:spPr>
          <a:xfrm>
            <a:off x="6922008" y="50657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mensuales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394192" y="5010912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5" name="Text 21"/>
          <p:cNvSpPr/>
          <p:nvPr/>
        </p:nvSpPr>
        <p:spPr>
          <a:xfrm>
            <a:off x="8476488" y="5065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base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0113264" y="501091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F7B92">
              <a:alpha val="18000"/>
            </a:srgbClr>
          </a:solidFill>
          <a:ln w="12700">
            <a:solidFill>
              <a:srgbClr val="FF7B9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7" name="Text 23"/>
          <p:cNvSpPr/>
          <p:nvPr/>
        </p:nvSpPr>
        <p:spPr>
          <a:xfrm>
            <a:off x="10195560" y="50657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13232" y="524865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Sábado 14 de marzo de 2026  </a:t>
            </a:r>
          </a:p>
          <a:p>
            <a:pPr marL="0" indent="0">
              <a:buNone/>
            </a:pPr>
            <a:endParaRPr lang="en-US" sz="1200" dirty="0">
              <a:solidFill>
                <a:srgbClr val="B5B8C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200" dirty="0">
                <a:solidFill>
                  <a:schemeClr val="bg1"/>
                </a:solidFill>
                <a:latin typeface="Aptos" pitchFamily="34" charset="0"/>
              </a:rPr>
              <a:t>Por Daniel Zaldaña </a:t>
            </a:r>
          </a:p>
          <a:p>
            <a:r>
              <a:rPr lang="en-US" sz="1200" dirty="0">
                <a:solidFill>
                  <a:schemeClr val="bg1"/>
                </a:solidFill>
                <a:latin typeface="Aptos" pitchFamily="34" charset="0"/>
              </a:rPr>
              <a:t>linkedin.com/in/danielzaldana</a:t>
            </a:r>
            <a:r>
              <a:rPr lang="en-US" sz="1200" dirty="0">
                <a:solidFill>
                  <a:srgbClr val="B5B8C9"/>
                </a:solidFill>
                <a:latin typeface="Aptos" pitchFamily="34" charset="0"/>
              </a:rPr>
              <a:t>/ 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 Meetup • Intro al forecasting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forecasting?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adivinar: es estimar el futuro con patrones históricos y supuestos explícitos.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600200"/>
            <a:ext cx="4800600" cy="4389120"/>
          </a:xfrm>
          <a:prstGeom prst="roundRect">
            <a:avLst>
              <a:gd name="adj" fmla="val 3125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600200"/>
            <a:ext cx="54864" cy="4389120"/>
          </a:xfrm>
          <a:prstGeom prst="roundRect">
            <a:avLst>
              <a:gd name="adj" fmla="val 250000"/>
            </a:avLst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Text 6"/>
          <p:cNvSpPr/>
          <p:nvPr/>
        </p:nvSpPr>
        <p:spPr>
          <a:xfrm>
            <a:off x="932688" y="1874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 = estimar valores futuros de una variable ordenada en el tiempo.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32688" y="26700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práctico aparece cuando el pronóstico responde tres preguntas de negocio: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" y="3474720"/>
            <a:ext cx="100584" cy="100584"/>
          </a:xfrm>
          <a:prstGeom prst="ellipse">
            <a:avLst/>
          </a:prstGeom>
          <a:solidFill>
            <a:srgbClr val="3CD4C0"/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1133856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Horizonte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304288" y="3401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tan lejos necesito mirar?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932688" y="4242816"/>
            <a:ext cx="100584" cy="100584"/>
          </a:xfrm>
          <a:prstGeom prst="ellipse">
            <a:avLst/>
          </a:prstGeom>
          <a:solidFill>
            <a:srgbClr val="6D66E6"/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Text 12"/>
          <p:cNvSpPr/>
          <p:nvPr/>
        </p:nvSpPr>
        <p:spPr>
          <a:xfrm>
            <a:off x="1133856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Granularidad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304288" y="41696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¿Diario, semanal, mensual?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932688" y="5010912"/>
            <a:ext cx="100584" cy="100584"/>
          </a:xfrm>
          <a:prstGeom prst="ellipse">
            <a:avLst/>
          </a:prstGeom>
          <a:solidFill>
            <a:srgbClr val="FF7B92"/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Text 15"/>
          <p:cNvSpPr/>
          <p:nvPr/>
        </p:nvSpPr>
        <p:spPr>
          <a:xfrm>
            <a:off x="1133856" y="4937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304288" y="49377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cambia con ese número?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5669280" y="1600200"/>
            <a:ext cx="5806440" cy="4389120"/>
          </a:xfrm>
          <a:prstGeom prst="roundRect">
            <a:avLst>
              <a:gd name="adj" fmla="val 3125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21" name="Shape 18"/>
          <p:cNvSpPr/>
          <p:nvPr/>
        </p:nvSpPr>
        <p:spPr>
          <a:xfrm>
            <a:off x="5669280" y="1600200"/>
            <a:ext cx="54864" cy="438912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2" name="Text 19"/>
          <p:cNvSpPr/>
          <p:nvPr/>
        </p:nvSpPr>
        <p:spPr>
          <a:xfrm>
            <a:off x="59893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serie suele mezclar señal + ruido + estacionalidad</a:t>
            </a:r>
            <a:endParaRPr lang="en-US" sz="135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519798362"/>
              </p:ext>
            </p:extLst>
          </p:nvPr>
        </p:nvGraphicFramePr>
        <p:xfrm>
          <a:off x="5961888" y="2212848"/>
          <a:ext cx="49834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 20"/>
          <p:cNvSpPr/>
          <p:nvPr/>
        </p:nvSpPr>
        <p:spPr>
          <a:xfrm>
            <a:off x="9500159" y="2350008"/>
            <a:ext cx="0" cy="2624328"/>
          </a:xfrm>
          <a:prstGeom prst="line">
            <a:avLst/>
          </a:prstGeom>
          <a:noFill/>
          <a:ln w="15240">
            <a:solidFill>
              <a:srgbClr val="8B83FF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s-SV"/>
          </a:p>
        </p:txBody>
      </p:sp>
      <p:sp>
        <p:nvSpPr>
          <p:cNvPr id="25" name="Shape 21"/>
          <p:cNvSpPr/>
          <p:nvPr/>
        </p:nvSpPr>
        <p:spPr>
          <a:xfrm>
            <a:off x="9298991" y="2286000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6" name="Text 22"/>
          <p:cNvSpPr/>
          <p:nvPr/>
        </p:nvSpPr>
        <p:spPr>
          <a:xfrm>
            <a:off x="9381287" y="23408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053328" y="5413248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3CD4C0">
              <a:alpha val="18000"/>
            </a:srgbClr>
          </a:solidFill>
          <a:ln w="12700">
            <a:solidFill>
              <a:srgbClr val="3CD4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8" name="Text 24"/>
          <p:cNvSpPr/>
          <p:nvPr/>
        </p:nvSpPr>
        <p:spPr>
          <a:xfrm>
            <a:off x="6135624" y="546811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607808" y="5413248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0" name="Text 26"/>
          <p:cNvSpPr/>
          <p:nvPr/>
        </p:nvSpPr>
        <p:spPr>
          <a:xfrm>
            <a:off x="7690104" y="5468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015984" y="5413248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FF7B92">
              <a:alpha val="18000"/>
            </a:srgbClr>
          </a:solidFill>
          <a:ln w="12700">
            <a:solidFill>
              <a:srgbClr val="FF7B9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2" name="Text 28"/>
          <p:cNvSpPr/>
          <p:nvPr/>
        </p:nvSpPr>
        <p:spPr>
          <a:xfrm>
            <a:off x="9098280" y="54681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futura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flujo correcto en Python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negocio, luego datos, luego modelo; nunca al revés.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673352"/>
            <a:ext cx="10881360" cy="4526280"/>
          </a:xfrm>
          <a:prstGeom prst="roundRect">
            <a:avLst>
              <a:gd name="adj" fmla="val 3030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673352"/>
            <a:ext cx="54864" cy="452628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1984248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3474720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1" name="Shape 8"/>
          <p:cNvSpPr/>
          <p:nvPr/>
        </p:nvSpPr>
        <p:spPr>
          <a:xfrm>
            <a:off x="4965192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2" name="Shape 9"/>
          <p:cNvSpPr/>
          <p:nvPr/>
        </p:nvSpPr>
        <p:spPr>
          <a:xfrm>
            <a:off x="6455664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3" name="Shape 10"/>
          <p:cNvSpPr/>
          <p:nvPr/>
        </p:nvSpPr>
        <p:spPr>
          <a:xfrm>
            <a:off x="7946136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4" name="Shape 11"/>
          <p:cNvSpPr/>
          <p:nvPr/>
        </p:nvSpPr>
        <p:spPr>
          <a:xfrm>
            <a:off x="9436608" y="2999232"/>
            <a:ext cx="457200" cy="0"/>
          </a:xfrm>
          <a:prstGeom prst="line">
            <a:avLst/>
          </a:prstGeom>
          <a:noFill/>
          <a:ln w="19050">
            <a:solidFill>
              <a:srgbClr val="2A2E58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5" name="Shape 12"/>
          <p:cNvSpPr/>
          <p:nvPr/>
        </p:nvSpPr>
        <p:spPr>
          <a:xfrm>
            <a:off x="932688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8B83FF">
              <a:alpha val="22000"/>
            </a:srgbClr>
          </a:solidFill>
          <a:ln w="12700">
            <a:solidFill>
              <a:srgbClr val="8B83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1051560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61872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32688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variable pronosticar y para qué decisión.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2423160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8B83FF">
              <a:alpha val="22000"/>
            </a:srgbClr>
          </a:solidFill>
          <a:ln w="12700">
            <a:solidFill>
              <a:srgbClr val="8B83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Text 17"/>
          <p:cNvSpPr/>
          <p:nvPr/>
        </p:nvSpPr>
        <p:spPr>
          <a:xfrm>
            <a:off x="2542032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761488" y="291572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Serie limpia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423160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temporal, frecuencia fija y nulos tratados.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3913632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3CD4C0">
              <a:alpha val="22000"/>
            </a:srgbClr>
          </a:solidFill>
          <a:ln w="12700">
            <a:solidFill>
              <a:srgbClr val="3CD4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Text 21"/>
          <p:cNvSpPr/>
          <p:nvPr/>
        </p:nvSpPr>
        <p:spPr>
          <a:xfrm>
            <a:off x="4032504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42816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Exploración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913632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Tendencia, estacionalidad, outliers y cambios de régimen.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5404104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8B83FF">
              <a:alpha val="22000"/>
            </a:srgbClr>
          </a:solidFill>
          <a:ln w="12700">
            <a:solidFill>
              <a:srgbClr val="8B83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8" name="Text 25"/>
          <p:cNvSpPr/>
          <p:nvPr/>
        </p:nvSpPr>
        <p:spPr>
          <a:xfrm>
            <a:off x="5522976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733288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04104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o seasonal naive como punto de comparación.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6894576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FF7B92">
              <a:alpha val="22000"/>
            </a:srgbClr>
          </a:solidFill>
          <a:ln w="12700">
            <a:solidFill>
              <a:srgbClr val="FF7B9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2" name="Text 29"/>
          <p:cNvSpPr/>
          <p:nvPr/>
        </p:nvSpPr>
        <p:spPr>
          <a:xfrm>
            <a:off x="7013448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223760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894576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ETS, ARIMA o ML con lags y variables exógenas.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8385048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8B83FF">
              <a:alpha val="22000"/>
            </a:srgbClr>
          </a:solidFill>
          <a:ln w="12700">
            <a:solidFill>
              <a:srgbClr val="8B83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6" name="Text 33"/>
          <p:cNvSpPr/>
          <p:nvPr/>
        </p:nvSpPr>
        <p:spPr>
          <a:xfrm>
            <a:off x="8503920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714232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Backtesting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385048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rolling origin, sin mezclar pasado y futuro.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9875520" y="2743200"/>
            <a:ext cx="1051560" cy="530352"/>
          </a:xfrm>
          <a:prstGeom prst="roundRect">
            <a:avLst>
              <a:gd name="adj" fmla="val 20690"/>
            </a:avLst>
          </a:prstGeom>
          <a:solidFill>
            <a:srgbClr val="8B83FF">
              <a:alpha val="22000"/>
            </a:srgbClr>
          </a:solidFill>
          <a:ln w="12700">
            <a:solidFill>
              <a:srgbClr val="8B83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0" name="Text 37"/>
          <p:cNvSpPr/>
          <p:nvPr/>
        </p:nvSpPr>
        <p:spPr>
          <a:xfrm>
            <a:off x="9994392" y="28529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0204704" y="2834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875520" y="3493008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Reentrenar, medir drift y revisar error de negocio.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969264" y="51480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clave: un modelo sofisticado no rescata una serie mal definida.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932688" y="5715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frecuencia, el horizonte o la métrica de negocio están mal planteados, el forecast será elegante… pero inútil.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familias de modelos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 simple, compara contra un baseline y sube complejidad solo si agrega valor.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55648"/>
            <a:ext cx="3474720" cy="4343400"/>
          </a:xfrm>
          <a:prstGeom prst="roundRect">
            <a:avLst>
              <a:gd name="adj" fmla="val 3947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755648"/>
            <a:ext cx="54864" cy="4343400"/>
          </a:xfrm>
          <a:prstGeom prst="roundRect">
            <a:avLst>
              <a:gd name="adj" fmla="val 250000"/>
            </a:avLst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4361688" y="1755648"/>
            <a:ext cx="3474720" cy="4343400"/>
          </a:xfrm>
          <a:prstGeom prst="roundRect">
            <a:avLst>
              <a:gd name="adj" fmla="val 3947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4361688" y="1755648"/>
            <a:ext cx="54864" cy="434340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Shape 8"/>
          <p:cNvSpPr/>
          <p:nvPr/>
        </p:nvSpPr>
        <p:spPr>
          <a:xfrm>
            <a:off x="8065008" y="1755648"/>
            <a:ext cx="3474720" cy="4343400"/>
          </a:xfrm>
          <a:prstGeom prst="roundRect">
            <a:avLst>
              <a:gd name="adj" fmla="val 3947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2" name="Shape 9"/>
          <p:cNvSpPr/>
          <p:nvPr/>
        </p:nvSpPr>
        <p:spPr>
          <a:xfrm>
            <a:off x="8065008" y="1755648"/>
            <a:ext cx="54864" cy="4343400"/>
          </a:xfrm>
          <a:prstGeom prst="roundRect">
            <a:avLst>
              <a:gd name="adj" fmla="val 250000"/>
            </a:avLst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3" name="Text 10"/>
          <p:cNvSpPr/>
          <p:nvPr/>
        </p:nvSpPr>
        <p:spPr>
          <a:xfrm>
            <a:off x="932688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E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Rápidos y honestos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" y="2825496"/>
            <a:ext cx="82296" cy="82296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109728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32688" y="3319272"/>
            <a:ext cx="82296" cy="82296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Text 15"/>
          <p:cNvSpPr/>
          <p:nvPr/>
        </p:nvSpPr>
        <p:spPr>
          <a:xfrm>
            <a:off x="1097280" y="3236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naive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32688" y="3813048"/>
            <a:ext cx="82296" cy="82296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Text 17"/>
          <p:cNvSpPr/>
          <p:nvPr/>
        </p:nvSpPr>
        <p:spPr>
          <a:xfrm>
            <a:off x="1097280" y="3730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average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2688" y="4370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Ideales para arrancar y para detectar si un modelo complejo realmente mejora algo.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4636008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Estadísticos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636008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de tiempo clásicas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636008" y="2825496"/>
            <a:ext cx="82296" cy="82296"/>
          </a:xfrm>
          <a:prstGeom prst="ellipse">
            <a:avLst/>
          </a:prstGeom>
          <a:solidFill>
            <a:srgbClr val="8B83FF"/>
          </a:solidFill>
          <a:ln w="12700">
            <a:solidFill>
              <a:srgbClr val="8B8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5" name="Text 22"/>
          <p:cNvSpPr/>
          <p:nvPr/>
        </p:nvSpPr>
        <p:spPr>
          <a:xfrm>
            <a:off x="480060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ETS / Holt-Winters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36008" y="3319272"/>
            <a:ext cx="82296" cy="82296"/>
          </a:xfrm>
          <a:prstGeom prst="ellipse">
            <a:avLst/>
          </a:prstGeom>
          <a:solidFill>
            <a:srgbClr val="8B83FF"/>
          </a:solidFill>
          <a:ln w="12700">
            <a:solidFill>
              <a:srgbClr val="8B8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7" name="Text 24"/>
          <p:cNvSpPr/>
          <p:nvPr/>
        </p:nvSpPr>
        <p:spPr>
          <a:xfrm>
            <a:off x="4800600" y="3236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 / SARIMAX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636008" y="4370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Funcionan muy bien cuando la estructura temporal es clara y el volumen de datos no es enorme.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8339328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39328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7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vía features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339328" y="2825496"/>
            <a:ext cx="82296" cy="82296"/>
          </a:xfrm>
          <a:prstGeom prst="ellipse">
            <a:avLst/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2" name="Text 29"/>
          <p:cNvSpPr/>
          <p:nvPr/>
        </p:nvSpPr>
        <p:spPr>
          <a:xfrm>
            <a:off x="850392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8339328" y="3319272"/>
            <a:ext cx="82296" cy="82296"/>
          </a:xfrm>
          <a:prstGeom prst="ellipse">
            <a:avLst/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4" name="Text 31"/>
          <p:cNvSpPr/>
          <p:nvPr/>
        </p:nvSpPr>
        <p:spPr>
          <a:xfrm>
            <a:off x="8503920" y="3236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stats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339328" y="3813048"/>
            <a:ext cx="82296" cy="82296"/>
          </a:xfrm>
          <a:prstGeom prst="ellipse">
            <a:avLst/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6" name="Text 33"/>
          <p:cNvSpPr/>
          <p:nvPr/>
        </p:nvSpPr>
        <p:spPr>
          <a:xfrm>
            <a:off x="8503920" y="3730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 + exógenas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339328" y="4370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cuando hay señales externas, interacciones no lineales o muchas series similares.</a:t>
            </a:r>
            <a:endParaRPr lang="en-US" sz="1220" dirty="0"/>
          </a:p>
        </p:txBody>
      </p:sp>
      <p:sp>
        <p:nvSpPr>
          <p:cNvPr id="38" name="Text 35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de datos: donde vive el valor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forecasting, la ingeniería de variables suele importar más que cambiar de algoritmo.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55648"/>
            <a:ext cx="5486400" cy="4434840"/>
          </a:xfrm>
          <a:prstGeom prst="roundRect">
            <a:avLst>
              <a:gd name="adj" fmla="val 3093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755648"/>
            <a:ext cx="54864" cy="4434840"/>
          </a:xfrm>
          <a:prstGeom prst="roundRect">
            <a:avLst>
              <a:gd name="adj" fmla="val 250000"/>
            </a:avLst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6355080" y="1755648"/>
            <a:ext cx="5184648" cy="4434840"/>
          </a:xfrm>
          <a:prstGeom prst="roundRect">
            <a:avLst>
              <a:gd name="adj" fmla="val 3093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6355080" y="1755648"/>
            <a:ext cx="54864" cy="443484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8"/>
          <p:cNvSpPr/>
          <p:nvPr/>
        </p:nvSpPr>
        <p:spPr>
          <a:xfrm>
            <a:off x="941832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mínimo con pandas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331720"/>
            <a:ext cx="4864608" cy="3246120"/>
          </a:xfrm>
          <a:prstGeom prst="rect">
            <a:avLst/>
          </a:prstGeom>
          <a:solidFill>
            <a:srgbClr val="0B1021"/>
          </a:solidFill>
          <a:ln w="12700">
            <a:solidFill>
              <a:srgbClr val="2A2E5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"fecha"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"fecha"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asfreq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"ventas"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"lag_1"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"lag_12"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"roll_mean_3"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"trimestre"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56832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que suelen ayudar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638544" y="2487168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F1225"/>
          </a:solidFill>
          <a:ln w="12700">
            <a:solidFill>
              <a:srgbClr val="2A2E58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Text 12"/>
          <p:cNvSpPr/>
          <p:nvPr/>
        </p:nvSpPr>
        <p:spPr>
          <a:xfrm>
            <a:off x="6858000" y="25968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Lags</a:t>
            </a:r>
            <a:endParaRPr lang="en-US" sz="1430" dirty="0"/>
          </a:p>
        </p:txBody>
      </p:sp>
      <p:sp>
        <p:nvSpPr>
          <p:cNvPr id="16" name="Text 13"/>
          <p:cNvSpPr/>
          <p:nvPr/>
        </p:nvSpPr>
        <p:spPr>
          <a:xfrm>
            <a:off x="8028432" y="25968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capturan memoria reciente y ciclos largos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638544" y="3236976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F1225"/>
          </a:solidFill>
          <a:ln w="12700">
            <a:solidFill>
              <a:srgbClr val="2A2E58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Text 15"/>
          <p:cNvSpPr/>
          <p:nvPr/>
        </p:nvSpPr>
        <p:spPr>
          <a:xfrm>
            <a:off x="6858000" y="33467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Rolling stats</a:t>
            </a:r>
            <a:endParaRPr lang="en-US" sz="1430" dirty="0"/>
          </a:p>
        </p:txBody>
      </p:sp>
      <p:sp>
        <p:nvSpPr>
          <p:cNvPr id="19" name="Text 16"/>
          <p:cNvSpPr/>
          <p:nvPr/>
        </p:nvSpPr>
        <p:spPr>
          <a:xfrm>
            <a:off x="8028432" y="33467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promedios, máximos o volatilidad reciente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6638544" y="3986784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F1225"/>
          </a:solidFill>
          <a:ln w="12700">
            <a:solidFill>
              <a:srgbClr val="2A2E58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1" name="Text 18"/>
          <p:cNvSpPr/>
          <p:nvPr/>
        </p:nvSpPr>
        <p:spPr>
          <a:xfrm>
            <a:off x="6858000" y="4096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Calendario</a:t>
            </a:r>
            <a:endParaRPr lang="en-US" sz="1430" dirty="0"/>
          </a:p>
        </p:txBody>
      </p:sp>
      <p:sp>
        <p:nvSpPr>
          <p:cNvPr id="22" name="Text 19"/>
          <p:cNvSpPr/>
          <p:nvPr/>
        </p:nvSpPr>
        <p:spPr>
          <a:xfrm>
            <a:off x="8028432" y="40965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mes, día, feriados, quincena, cierre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638544" y="4736592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F1225"/>
          </a:solidFill>
          <a:ln w="12700">
            <a:solidFill>
              <a:srgbClr val="2A2E58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Text 21"/>
          <p:cNvSpPr/>
          <p:nvPr/>
        </p:nvSpPr>
        <p:spPr>
          <a:xfrm>
            <a:off x="6858000" y="48463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Exógenas</a:t>
            </a:r>
            <a:endParaRPr lang="en-US" sz="1430" dirty="0"/>
          </a:p>
        </p:txBody>
      </p:sp>
      <p:sp>
        <p:nvSpPr>
          <p:cNvPr id="25" name="Text 22"/>
          <p:cNvSpPr/>
          <p:nvPr/>
        </p:nvSpPr>
        <p:spPr>
          <a:xfrm>
            <a:off x="8028432" y="4846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precio, clima, marketing, inventario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656832" y="55412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E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práctica: toda feature debe existir antes del momento que quieres predecir.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Validación: el pasado predice el futuro, no al revés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58368" y="13075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leakage con particiones temporales y backtesting rolling-origin.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55648"/>
            <a:ext cx="6858000" cy="4434840"/>
          </a:xfrm>
          <a:prstGeom prst="roundRect">
            <a:avLst>
              <a:gd name="adj" fmla="val 3093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755648"/>
            <a:ext cx="54864" cy="443484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7754112" y="1755648"/>
            <a:ext cx="3794760" cy="4434840"/>
          </a:xfrm>
          <a:prstGeom prst="roundRect">
            <a:avLst>
              <a:gd name="adj" fmla="val 3614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7754112" y="1755648"/>
            <a:ext cx="54864" cy="4434840"/>
          </a:xfrm>
          <a:prstGeom prst="roundRect">
            <a:avLst>
              <a:gd name="adj" fmla="val 250000"/>
            </a:avLst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8"/>
          <p:cNvSpPr/>
          <p:nvPr/>
        </p:nvSpPr>
        <p:spPr>
          <a:xfrm>
            <a:off x="932688" y="1993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Backtesting temporal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852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28800" y="27432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2F3F7">
              <a:alpha val="85000"/>
            </a:srgbClr>
          </a:solidFill>
          <a:ln w="12700">
            <a:solidFill>
              <a:srgbClr val="F2F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4" name="Shape 11"/>
          <p:cNvSpPr/>
          <p:nvPr/>
        </p:nvSpPr>
        <p:spPr>
          <a:xfrm>
            <a:off x="3968496" y="274320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38C2B2"/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Text 12"/>
          <p:cNvSpPr/>
          <p:nvPr/>
        </p:nvSpPr>
        <p:spPr>
          <a:xfrm>
            <a:off x="987552" y="3511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0" y="3401568"/>
            <a:ext cx="2889504" cy="310896"/>
          </a:xfrm>
          <a:prstGeom prst="roundRect">
            <a:avLst>
              <a:gd name="adj" fmla="val 23529"/>
            </a:avLst>
          </a:prstGeom>
          <a:solidFill>
            <a:srgbClr val="F2F3F7">
              <a:alpha val="85000"/>
            </a:srgbClr>
          </a:solidFill>
          <a:ln w="12700">
            <a:solidFill>
              <a:srgbClr val="F2F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7" name="Shape 14"/>
          <p:cNvSpPr/>
          <p:nvPr/>
        </p:nvSpPr>
        <p:spPr>
          <a:xfrm>
            <a:off x="4754880" y="3401568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38C2B2">
              <a:alpha val="90000"/>
            </a:srgbClr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Text 15"/>
          <p:cNvSpPr/>
          <p:nvPr/>
        </p:nvSpPr>
        <p:spPr>
          <a:xfrm>
            <a:off x="987552" y="41696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828800" y="4059936"/>
            <a:ext cx="3712464" cy="310896"/>
          </a:xfrm>
          <a:prstGeom prst="roundRect">
            <a:avLst>
              <a:gd name="adj" fmla="val 23529"/>
            </a:avLst>
          </a:prstGeom>
          <a:solidFill>
            <a:srgbClr val="F2F3F7">
              <a:alpha val="85000"/>
            </a:srgbClr>
          </a:solidFill>
          <a:ln w="12700">
            <a:solidFill>
              <a:srgbClr val="F2F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Shape 17"/>
          <p:cNvSpPr/>
          <p:nvPr/>
        </p:nvSpPr>
        <p:spPr>
          <a:xfrm>
            <a:off x="5596128" y="4059936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3CD4C0">
              <a:alpha val="90000"/>
            </a:srgbClr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1" name="Text 18"/>
          <p:cNvSpPr/>
          <p:nvPr/>
        </p:nvSpPr>
        <p:spPr>
          <a:xfrm>
            <a:off x="987552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828800" y="4718304"/>
            <a:ext cx="4553712" cy="310896"/>
          </a:xfrm>
          <a:prstGeom prst="roundRect">
            <a:avLst>
              <a:gd name="adj" fmla="val 23529"/>
            </a:avLst>
          </a:prstGeom>
          <a:solidFill>
            <a:srgbClr val="F2F3F7">
              <a:alpha val="85000"/>
            </a:srgbClr>
          </a:solidFill>
          <a:ln w="12700">
            <a:solidFill>
              <a:srgbClr val="F2F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3" name="Shape 20"/>
          <p:cNvSpPr/>
          <p:nvPr/>
        </p:nvSpPr>
        <p:spPr>
          <a:xfrm>
            <a:off x="6437376" y="4718304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38C2B2">
              <a:alpha val="90000"/>
            </a:srgbClr>
          </a:solidFill>
          <a:ln w="12700">
            <a:solidFill>
              <a:srgbClr val="090B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Shape 21"/>
          <p:cNvSpPr/>
          <p:nvPr/>
        </p:nvSpPr>
        <p:spPr>
          <a:xfrm>
            <a:off x="1883664" y="5285412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D2D3DA"/>
          </a:solidFill>
          <a:ln w="12700">
            <a:solidFill>
              <a:srgbClr val="D2D3D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5" name="Text 22"/>
          <p:cNvSpPr/>
          <p:nvPr/>
        </p:nvSpPr>
        <p:spPr>
          <a:xfrm>
            <a:off x="2020824" y="53583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90672" y="528541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38C2B2">
              <a:alpha val="18000"/>
            </a:srgbClr>
          </a:solidFill>
          <a:ln w="12700">
            <a:solidFill>
              <a:srgbClr val="38C2B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7" name="Text 24"/>
          <p:cNvSpPr/>
          <p:nvPr/>
        </p:nvSpPr>
        <p:spPr>
          <a:xfrm>
            <a:off x="3172968" y="53721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32688" y="57790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split respeta el orden temporal y simula cómo viviría el modelo en producción.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28432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útiles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083296" y="2578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E8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MAE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942832" y="25968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promedio absoluto; fácil de explicar</a:t>
            </a:r>
            <a:endParaRPr lang="en-US" sz="1230" dirty="0"/>
          </a:p>
        </p:txBody>
      </p:sp>
      <p:sp>
        <p:nvSpPr>
          <p:cNvPr id="32" name="Text 29"/>
          <p:cNvSpPr/>
          <p:nvPr/>
        </p:nvSpPr>
        <p:spPr>
          <a:xfrm>
            <a:off x="8083296" y="3438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8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8942832" y="34564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castiga más los errores grandes</a:t>
            </a:r>
            <a:endParaRPr lang="en-US" sz="1230" dirty="0"/>
          </a:p>
        </p:txBody>
      </p:sp>
      <p:sp>
        <p:nvSpPr>
          <p:cNvPr id="34" name="Text 31"/>
          <p:cNvSpPr/>
          <p:nvPr/>
        </p:nvSpPr>
        <p:spPr>
          <a:xfrm>
            <a:off x="8083296" y="4297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7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8942832" y="43159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comparar contra escala de negocio</a:t>
            </a:r>
            <a:endParaRPr lang="en-US" sz="1230" dirty="0"/>
          </a:p>
        </p:txBody>
      </p:sp>
      <p:sp>
        <p:nvSpPr>
          <p:cNvPr id="36" name="Text 33"/>
          <p:cNvSpPr/>
          <p:nvPr/>
        </p:nvSpPr>
        <p:spPr>
          <a:xfrm>
            <a:off x="8065008" y="53218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también el costo del error. Un MAE pequeño puede seguir siendo caro si falla en fechas críticas.</a:t>
            </a:r>
            <a:endParaRPr lang="en-US" sz="1260" dirty="0"/>
          </a:p>
        </p:txBody>
      </p:sp>
      <p:sp>
        <p:nvSpPr>
          <p:cNvPr id="37" name="Text 34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mínima en Python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ejemplo corto con Exponential Smoothing para arrancar rápido.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55648"/>
            <a:ext cx="5669280" cy="4480560"/>
          </a:xfrm>
          <a:prstGeom prst="roundRect">
            <a:avLst>
              <a:gd name="adj" fmla="val 3061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755648"/>
            <a:ext cx="54864" cy="4480560"/>
          </a:xfrm>
          <a:prstGeom prst="roundRect">
            <a:avLst>
              <a:gd name="adj" fmla="val 250000"/>
            </a:avLst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6510528" y="1755648"/>
            <a:ext cx="5029200" cy="4480560"/>
          </a:xfrm>
          <a:prstGeom prst="roundRect">
            <a:avLst>
              <a:gd name="adj" fmla="val 3061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6510528" y="1755648"/>
            <a:ext cx="54864" cy="4480560"/>
          </a:xfrm>
          <a:prstGeom prst="roundRect">
            <a:avLst>
              <a:gd name="adj" fmla="val 250000"/>
            </a:avLst>
          </a:prstGeom>
          <a:solidFill>
            <a:srgbClr val="6D66E6"/>
          </a:solidFill>
          <a:ln w="12700">
            <a:solidFill>
              <a:srgbClr val="6D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8"/>
          <p:cNvSpPr/>
          <p:nvPr/>
        </p:nvSpPr>
        <p:spPr>
          <a:xfrm>
            <a:off x="914400" y="2084832"/>
            <a:ext cx="5074920" cy="3520440"/>
          </a:xfrm>
          <a:prstGeom prst="rect">
            <a:avLst/>
          </a:prstGeom>
          <a:solidFill>
            <a:srgbClr val="0B1021"/>
          </a:solidFill>
          <a:ln w="12700">
            <a:solidFill>
              <a:srgbClr val="2A2E58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statsmodels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holtwinters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ExponentialSmoothing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"2025-12"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ExponentialSmoothing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seasonal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seasonal_periods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84848" y="1993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</a:t>
            </a:r>
            <a:endParaRPr lang="en-US" sz="18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748272" y="2322576"/>
          <a:ext cx="4407408" cy="294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Shape 10"/>
          <p:cNvSpPr/>
          <p:nvPr/>
        </p:nvSpPr>
        <p:spPr>
          <a:xfrm>
            <a:off x="9877532" y="2459736"/>
            <a:ext cx="0" cy="2596896"/>
          </a:xfrm>
          <a:prstGeom prst="line">
            <a:avLst/>
          </a:prstGeom>
          <a:noFill/>
          <a:ln w="15240">
            <a:solidFill>
              <a:srgbClr val="8B83FF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s-SV"/>
          </a:p>
        </p:txBody>
      </p:sp>
      <p:sp>
        <p:nvSpPr>
          <p:cNvPr id="15" name="Shape 11"/>
          <p:cNvSpPr/>
          <p:nvPr/>
        </p:nvSpPr>
        <p:spPr>
          <a:xfrm>
            <a:off x="9676364" y="2395728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6" name="Text 12"/>
          <p:cNvSpPr/>
          <p:nvPr/>
        </p:nvSpPr>
        <p:spPr>
          <a:xfrm>
            <a:off x="9758660" y="245059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766560" y="541324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llegar a XGBoost o redes neuronales, prueba un baseline y un modelo estadístico bien calibrado.</a:t>
            </a:r>
            <a:endParaRPr lang="en-US" sz="1270" dirty="0"/>
          </a:p>
        </p:txBody>
      </p:sp>
      <p:sp>
        <p:nvSpPr>
          <p:cNvPr id="18" name="Text 14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38328"/>
            <a:ext cx="109728" cy="109728"/>
          </a:xfrm>
          <a:prstGeom prst="ellipse">
            <a:avLst/>
          </a:prstGeom>
          <a:solidFill>
            <a:srgbClr val="3CD4C0"/>
          </a:solidFill>
          <a:ln w="12700">
            <a:solidFill>
              <a:srgbClr val="3CD4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841248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PYTHONSV.COM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40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llevarte hoy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76656" y="1115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ideas que mejoran cualquier proyecto de forecasting desde el día uno.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10881360" cy="4407408"/>
          </a:xfrm>
          <a:prstGeom prst="roundRect">
            <a:avLst>
              <a:gd name="adj" fmla="val 3112"/>
            </a:avLst>
          </a:prstGeom>
          <a:solidFill>
            <a:srgbClr val="191C36">
              <a:alpha val="96000"/>
            </a:srgbClr>
          </a:solidFill>
          <a:ln w="15240">
            <a:solidFill>
              <a:srgbClr val="242845"/>
            </a:solidFill>
            <a:prstDash val="solid"/>
          </a:ln>
          <a:effectLst>
            <a:outerShdw blurRad="25400" dist="1524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658368" y="1783080"/>
            <a:ext cx="54864" cy="4407408"/>
          </a:xfrm>
          <a:prstGeom prst="roundRect">
            <a:avLst>
              <a:gd name="adj" fmla="val 250000"/>
            </a:avLst>
          </a:prstGeom>
          <a:solidFill>
            <a:srgbClr val="FF7B92"/>
          </a:solidFill>
          <a:ln w="12700">
            <a:solidFill>
              <a:srgbClr val="FF7B9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Text 6"/>
          <p:cNvSpPr/>
          <p:nvPr/>
        </p:nvSpPr>
        <p:spPr>
          <a:xfrm>
            <a:off x="960120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E8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0120" y="25786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el forecast alrededor de una decisión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60120" y="33375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Horizon, frecuencia y métrica de negocio mandan más que el algoritmo.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4636008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8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36008" y="25786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baseline fuerte es una ventaja, no una limitación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636008" y="33375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puedes vencer a naive o seasonal naive, todavía no toca complejidad.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8311896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7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311896" y="25786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 como si ya estuvieras en producción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311896" y="33375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Backtesting temporal, leakage cero y monitoreo continuo después del despliegue.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960120" y="4920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recomendado para empezar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960120" y="537667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3CD4C0">
              <a:alpha val="18000"/>
            </a:srgbClr>
          </a:solidFill>
          <a:ln w="12700">
            <a:solidFill>
              <a:srgbClr val="3CD4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Text 17"/>
          <p:cNvSpPr/>
          <p:nvPr/>
        </p:nvSpPr>
        <p:spPr>
          <a:xfrm>
            <a:off x="1042416" y="543153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560320" y="537667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2" name="Text 19"/>
          <p:cNvSpPr/>
          <p:nvPr/>
        </p:nvSpPr>
        <p:spPr>
          <a:xfrm>
            <a:off x="2642616" y="543153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statsmodels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60520" y="537667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3CD4C0">
              <a:alpha val="18000"/>
            </a:srgbClr>
          </a:solidFill>
          <a:ln w="12700">
            <a:solidFill>
              <a:srgbClr val="3CD4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Text 21"/>
          <p:cNvSpPr/>
          <p:nvPr/>
        </p:nvSpPr>
        <p:spPr>
          <a:xfrm>
            <a:off x="4242816" y="543153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60720" y="537667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6D66E6">
              <a:alpha val="18000"/>
            </a:srgbClr>
          </a:solidFill>
          <a:ln w="12700">
            <a:solidFill>
              <a:srgbClr val="6D66E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6" name="Text 23"/>
          <p:cNvSpPr/>
          <p:nvPr/>
        </p:nvSpPr>
        <p:spPr>
          <a:xfrm>
            <a:off x="5843016" y="543153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skforecast / Prophet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646920" y="5532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2F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577072" y="58155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B5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PythonSV Meetup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94944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al Forecasting en Python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1520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D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pandas • statsmodels • scikit-learn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1921</Words>
  <Application>Microsoft Office PowerPoint</Application>
  <PresentationFormat>Widescreen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Forecasting en Python</dc:title>
  <dc:subject>Introducción al Forecasting en Python</dc:subject>
  <dc:creator>OpenAI</dc:creator>
  <cp:lastModifiedBy>Jose Daniel Zaldaña Velasquez</cp:lastModifiedBy>
  <cp:revision>4</cp:revision>
  <dcterms:created xsi:type="dcterms:W3CDTF">2026-03-14T17:43:38Z</dcterms:created>
  <dcterms:modified xsi:type="dcterms:W3CDTF">2026-03-14T19:23:23Z</dcterms:modified>
</cp:coreProperties>
</file>